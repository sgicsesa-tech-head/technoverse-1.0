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ato" charset="1" panose="020F0502020204030203"/>
      <p:regular r:id="rId12"/>
    </p:embeddedFont>
    <p:embeddedFont>
      <p:font typeface="Calibri (MS)" charset="1" panose="020F0502020204030204"/>
      <p:regular r:id="rId13"/>
    </p:embeddedFont>
    <p:embeddedFont>
      <p:font typeface="Lato Bold" charset="1" panose="020F050202020403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389" y="6251934"/>
            <a:ext cx="18429503" cy="130531"/>
            <a:chOff x="0" y="0"/>
            <a:chExt cx="24572671" cy="1740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72722" cy="173990"/>
            </a:xfrm>
            <a:custGeom>
              <a:avLst/>
              <a:gdLst/>
              <a:ahLst/>
              <a:cxnLst/>
              <a:rect r="r" b="b" t="t" l="l"/>
              <a:pathLst>
                <a:path h="173990" w="24572722">
                  <a:moveTo>
                    <a:pt x="0" y="0"/>
                  </a:moveTo>
                  <a:lnTo>
                    <a:pt x="24572722" y="0"/>
                  </a:lnTo>
                  <a:lnTo>
                    <a:pt x="24572722" y="173990"/>
                  </a:lnTo>
                  <a:lnTo>
                    <a:pt x="0" y="173990"/>
                  </a:lnTo>
                  <a:close/>
                </a:path>
              </a:pathLst>
            </a:custGeom>
            <a:solidFill>
              <a:srgbClr val="FDFEFE"/>
            </a:soli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115620" y="5733593"/>
            <a:ext cx="11605793" cy="138608"/>
            <a:chOff x="0" y="0"/>
            <a:chExt cx="15474391" cy="184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74442" cy="184785"/>
            </a:xfrm>
            <a:custGeom>
              <a:avLst/>
              <a:gdLst/>
              <a:ahLst/>
              <a:cxnLst/>
              <a:rect r="r" b="b" t="t" l="l"/>
              <a:pathLst>
                <a:path h="184785" w="15474442">
                  <a:moveTo>
                    <a:pt x="0" y="0"/>
                  </a:moveTo>
                  <a:lnTo>
                    <a:pt x="15474442" y="0"/>
                  </a:lnTo>
                  <a:lnTo>
                    <a:pt x="15474442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E1060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92269" y="6408849"/>
            <a:ext cx="12924330" cy="627507"/>
            <a:chOff x="0" y="0"/>
            <a:chExt cx="17232440" cy="8366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2438" cy="836677"/>
            </a:xfrm>
            <a:custGeom>
              <a:avLst/>
              <a:gdLst/>
              <a:ahLst/>
              <a:cxnLst/>
              <a:rect r="r" b="b" t="t" l="l"/>
              <a:pathLst>
                <a:path h="836677" w="17232438">
                  <a:moveTo>
                    <a:pt x="0" y="0"/>
                  </a:moveTo>
                  <a:lnTo>
                    <a:pt x="17232438" y="0"/>
                  </a:lnTo>
                  <a:lnTo>
                    <a:pt x="17232438" y="836677"/>
                  </a:lnTo>
                  <a:lnTo>
                    <a:pt x="0" y="8366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1319" r="0" b="-35131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7232440" cy="846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2"/>
                </a:lnSpc>
              </a:pPr>
              <a:r>
                <a:rPr lang="en-US" sz="4001">
                  <a:solidFill>
                    <a:srgbClr val="FDFEFE"/>
                  </a:solidFill>
                  <a:latin typeface="Lato"/>
                  <a:ea typeface="Lato"/>
                  <a:cs typeface="Lato"/>
                  <a:sym typeface="Lato"/>
                </a:rPr>
                <a:t>Idea Presentation Round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90864" y="23174"/>
            <a:ext cx="11459975" cy="6090152"/>
            <a:chOff x="0" y="0"/>
            <a:chExt cx="15279967" cy="81202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80005" cy="8120253"/>
            </a:xfrm>
            <a:custGeom>
              <a:avLst/>
              <a:gdLst/>
              <a:ahLst/>
              <a:cxnLst/>
              <a:rect r="r" b="b" t="t" l="l"/>
              <a:pathLst>
                <a:path h="8120253" w="15280005">
                  <a:moveTo>
                    <a:pt x="0" y="0"/>
                  </a:moveTo>
                  <a:lnTo>
                    <a:pt x="15280005" y="0"/>
                  </a:lnTo>
                  <a:lnTo>
                    <a:pt x="15280005" y="8120253"/>
                  </a:lnTo>
                  <a:lnTo>
                    <a:pt x="0" y="8120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84" r="0" b="-12684"/>
              </a:stretch>
            </a:blipFill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172419" y="7360826"/>
          <a:ext cx="16702636" cy="2148472"/>
        </p:xfrm>
        <a:graphic>
          <a:graphicData uri="http://schemas.openxmlformats.org/drawingml/2006/table">
            <a:tbl>
              <a:tblPr/>
              <a:tblGrid>
                <a:gridCol w="5736491"/>
                <a:gridCol w="6588902"/>
                <a:gridCol w="4377242"/>
              </a:tblGrid>
              <a:tr h="1048348">
                <a:tc gridSpan="3">
                  <a:txBody>
                    <a:bodyPr anchor="t" rtlCol="false"/>
                    <a:lstStyle/>
                    <a:p>
                      <a:pPr algn="l">
                        <a:lnSpc>
                          <a:spcPts val="3055"/>
                        </a:lnSpc>
                        <a:defRPr/>
                      </a:pPr>
                      <a:r>
                        <a:rPr lang="en-US" sz="2546">
                          <a:solidFill>
                            <a:srgbClr val="FDFE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Theme: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3055"/>
                        </a:lnSpc>
                        <a:defRPr/>
                      </a:pPr>
                      <a:r>
                        <a:rPr lang="en-US" sz="2546">
                          <a:solidFill>
                            <a:srgbClr val="FDFE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Theme: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3055"/>
                        </a:lnSpc>
                        <a:defRPr/>
                      </a:pPr>
                      <a:r>
                        <a:rPr lang="en-US" sz="2546">
                          <a:solidFill>
                            <a:srgbClr val="FDFE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Theme: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0124">
                <a:tc gridSpan="3">
                  <a:txBody>
                    <a:bodyPr anchor="t" rtlCol="false"/>
                    <a:lstStyle/>
                    <a:p>
                      <a:pPr algn="l">
                        <a:lnSpc>
                          <a:spcPts val="3055"/>
                        </a:lnSpc>
                        <a:defRPr/>
                      </a:pPr>
                      <a:r>
                        <a:rPr lang="en-US" sz="2546">
                          <a:solidFill>
                            <a:srgbClr val="FDFE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Project Title: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3055"/>
                        </a:lnSpc>
                        <a:defRPr/>
                      </a:pPr>
                      <a:r>
                        <a:rPr lang="en-US" sz="2546">
                          <a:solidFill>
                            <a:srgbClr val="FDFE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Project Title: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3055"/>
                        </a:lnSpc>
                        <a:defRPr/>
                      </a:pPr>
                      <a:r>
                        <a:rPr lang="en-US" sz="2546">
                          <a:solidFill>
                            <a:srgbClr val="FDFEF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Project Title: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F4A8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2913862" y="9533687"/>
            <a:ext cx="4114152" cy="547640"/>
            <a:chOff x="0" y="0"/>
            <a:chExt cx="5485536" cy="7301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5534" cy="730186"/>
            </a:xfrm>
            <a:custGeom>
              <a:avLst/>
              <a:gdLst/>
              <a:ahLst/>
              <a:cxnLst/>
              <a:rect r="r" b="b" t="t" l="l"/>
              <a:pathLst>
                <a:path h="730186" w="5485534">
                  <a:moveTo>
                    <a:pt x="0" y="0"/>
                  </a:moveTo>
                  <a:lnTo>
                    <a:pt x="5485534" y="0"/>
                  </a:lnTo>
                  <a:lnTo>
                    <a:pt x="5485534" y="730186"/>
                  </a:lnTo>
                  <a:lnTo>
                    <a:pt x="0" y="730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81" r="0" b="-963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5536" cy="76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FDFE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1031" y="732539"/>
            <a:ext cx="9569939" cy="851449"/>
            <a:chOff x="0" y="0"/>
            <a:chExt cx="12759919" cy="1135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59923" cy="1135270"/>
            </a:xfrm>
            <a:custGeom>
              <a:avLst/>
              <a:gdLst/>
              <a:ahLst/>
              <a:cxnLst/>
              <a:rect r="r" b="b" t="t" l="l"/>
              <a:pathLst>
                <a:path h="1135270" w="12759923">
                  <a:moveTo>
                    <a:pt x="0" y="0"/>
                  </a:moveTo>
                  <a:lnTo>
                    <a:pt x="12759923" y="0"/>
                  </a:lnTo>
                  <a:lnTo>
                    <a:pt x="12759923" y="1135270"/>
                  </a:lnTo>
                  <a:lnTo>
                    <a:pt x="0" y="11352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003" r="0" b="-1690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759919" cy="1144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48"/>
                </a:lnSpc>
              </a:pPr>
              <a:r>
                <a:rPr lang="en-US" sz="5457">
                  <a:solidFill>
                    <a:srgbClr val="FDFEFE"/>
                  </a:solidFill>
                  <a:latin typeface="Lato"/>
                  <a:ea typeface="Lato"/>
                  <a:cs typeface="Lato"/>
                  <a:sym typeface="Lato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5086" y="2370830"/>
            <a:ext cx="18360190" cy="138608"/>
            <a:chOff x="0" y="0"/>
            <a:chExt cx="24480253" cy="184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80265" cy="184785"/>
            </a:xfrm>
            <a:custGeom>
              <a:avLst/>
              <a:gdLst/>
              <a:ahLst/>
              <a:cxnLst/>
              <a:rect r="r" b="b" t="t" l="l"/>
              <a:pathLst>
                <a:path h="184785" w="24480265">
                  <a:moveTo>
                    <a:pt x="0" y="0"/>
                  </a:moveTo>
                  <a:lnTo>
                    <a:pt x="24480265" y="0"/>
                  </a:lnTo>
                  <a:lnTo>
                    <a:pt x="24480265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FDFEFE"/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-5115620" y="5733593"/>
            <a:ext cx="11605793" cy="138608"/>
            <a:chOff x="0" y="0"/>
            <a:chExt cx="15474391" cy="184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74442" cy="184785"/>
            </a:xfrm>
            <a:custGeom>
              <a:avLst/>
              <a:gdLst/>
              <a:ahLst/>
              <a:cxnLst/>
              <a:rect r="r" b="b" t="t" l="l"/>
              <a:pathLst>
                <a:path h="184785" w="15474442">
                  <a:moveTo>
                    <a:pt x="0" y="0"/>
                  </a:moveTo>
                  <a:lnTo>
                    <a:pt x="15474442" y="0"/>
                  </a:lnTo>
                  <a:lnTo>
                    <a:pt x="15474442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E1060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913862" y="9533687"/>
            <a:ext cx="4114152" cy="547640"/>
            <a:chOff x="0" y="0"/>
            <a:chExt cx="5485536" cy="7301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5534" cy="730186"/>
            </a:xfrm>
            <a:custGeom>
              <a:avLst/>
              <a:gdLst/>
              <a:ahLst/>
              <a:cxnLst/>
              <a:rect r="r" b="b" t="t" l="l"/>
              <a:pathLst>
                <a:path h="730186" w="5485534">
                  <a:moveTo>
                    <a:pt x="0" y="0"/>
                  </a:moveTo>
                  <a:lnTo>
                    <a:pt x="5485534" y="0"/>
                  </a:lnTo>
                  <a:lnTo>
                    <a:pt x="5485534" y="730186"/>
                  </a:lnTo>
                  <a:lnTo>
                    <a:pt x="0" y="730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81" r="0" b="-963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5536" cy="76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FDFE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0795" y="3098835"/>
            <a:ext cx="857860" cy="857860"/>
            <a:chOff x="0" y="0"/>
            <a:chExt cx="1143813" cy="1143813"/>
          </a:xfrm>
        </p:grpSpPr>
        <p:sp>
          <p:nvSpPr>
            <p:cNvPr name="Freeform 13" id="13" descr="Overview icons for free download | Freepik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27699" y="3106998"/>
            <a:ext cx="857860" cy="857860"/>
            <a:chOff x="0" y="0"/>
            <a:chExt cx="1143813" cy="1143813"/>
          </a:xfrm>
        </p:grpSpPr>
        <p:sp>
          <p:nvSpPr>
            <p:cNvPr name="Freeform 15" id="15" descr="Problem icons for free download | Freepik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111821" y="0"/>
            <a:ext cx="5832516" cy="4050582"/>
            <a:chOff x="0" y="0"/>
            <a:chExt cx="7776687" cy="54007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219559"/>
              <a:ext cx="7776687" cy="5181218"/>
            </a:xfrm>
            <a:custGeom>
              <a:avLst/>
              <a:gdLst/>
              <a:ahLst/>
              <a:cxnLst/>
              <a:rect r="r" b="b" t="t" l="l"/>
              <a:pathLst>
                <a:path h="5181218" w="7776687">
                  <a:moveTo>
                    <a:pt x="0" y="0"/>
                  </a:moveTo>
                  <a:lnTo>
                    <a:pt x="7776687" y="0"/>
                  </a:lnTo>
                  <a:lnTo>
                    <a:pt x="7776687" y="5181218"/>
                  </a:lnTo>
                  <a:lnTo>
                    <a:pt x="0" y="5181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07561" y="0"/>
              <a:ext cx="2361565" cy="2149393"/>
            </a:xfrm>
            <a:custGeom>
              <a:avLst/>
              <a:gdLst/>
              <a:ahLst/>
              <a:cxnLst/>
              <a:rect r="r" b="b" t="t" l="l"/>
              <a:pathLst>
                <a:path h="2149393" w="2361565">
                  <a:moveTo>
                    <a:pt x="0" y="0"/>
                  </a:moveTo>
                  <a:lnTo>
                    <a:pt x="2361565" y="0"/>
                  </a:lnTo>
                  <a:lnTo>
                    <a:pt x="2361565" y="2149393"/>
                  </a:lnTo>
                  <a:lnTo>
                    <a:pt x="0" y="2149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376573" y="3282296"/>
            <a:ext cx="2840612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Overview of Idea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76573" y="3869093"/>
            <a:ext cx="6558067" cy="54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Clear and concise introduction to your concept.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23467" y="3282296"/>
            <a:ext cx="4323436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Problem Statement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23467" y="3869093"/>
            <a:ext cx="7464533" cy="87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Describe the specific problem, need, or gap your project aims to address.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1031" y="732539"/>
            <a:ext cx="9569939" cy="851449"/>
            <a:chOff x="0" y="0"/>
            <a:chExt cx="12759919" cy="1135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59923" cy="1135270"/>
            </a:xfrm>
            <a:custGeom>
              <a:avLst/>
              <a:gdLst/>
              <a:ahLst/>
              <a:cxnLst/>
              <a:rect r="r" b="b" t="t" l="l"/>
              <a:pathLst>
                <a:path h="1135270" w="12759923">
                  <a:moveTo>
                    <a:pt x="0" y="0"/>
                  </a:moveTo>
                  <a:lnTo>
                    <a:pt x="12759923" y="0"/>
                  </a:lnTo>
                  <a:lnTo>
                    <a:pt x="12759923" y="1135270"/>
                  </a:lnTo>
                  <a:lnTo>
                    <a:pt x="0" y="11352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003" r="0" b="-1690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759919" cy="1144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48"/>
                </a:lnSpc>
              </a:pPr>
              <a:r>
                <a:rPr lang="en-US" sz="5457">
                  <a:solidFill>
                    <a:srgbClr val="FDFEFE"/>
                  </a:solidFill>
                  <a:latin typeface="Lato"/>
                  <a:ea typeface="Lato"/>
                  <a:cs typeface="Lato"/>
                  <a:sym typeface="Lato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5086" y="2370830"/>
            <a:ext cx="18360190" cy="138608"/>
            <a:chOff x="0" y="0"/>
            <a:chExt cx="24480253" cy="184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80265" cy="184785"/>
            </a:xfrm>
            <a:custGeom>
              <a:avLst/>
              <a:gdLst/>
              <a:ahLst/>
              <a:cxnLst/>
              <a:rect r="r" b="b" t="t" l="l"/>
              <a:pathLst>
                <a:path h="184785" w="24480265">
                  <a:moveTo>
                    <a:pt x="0" y="0"/>
                  </a:moveTo>
                  <a:lnTo>
                    <a:pt x="24480265" y="0"/>
                  </a:lnTo>
                  <a:lnTo>
                    <a:pt x="24480265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FDFEFE"/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-5115620" y="5733593"/>
            <a:ext cx="11605793" cy="138608"/>
            <a:chOff x="0" y="0"/>
            <a:chExt cx="15474391" cy="184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74442" cy="184785"/>
            </a:xfrm>
            <a:custGeom>
              <a:avLst/>
              <a:gdLst/>
              <a:ahLst/>
              <a:cxnLst/>
              <a:rect r="r" b="b" t="t" l="l"/>
              <a:pathLst>
                <a:path h="184785" w="15474442">
                  <a:moveTo>
                    <a:pt x="0" y="0"/>
                  </a:moveTo>
                  <a:lnTo>
                    <a:pt x="15474442" y="0"/>
                  </a:lnTo>
                  <a:lnTo>
                    <a:pt x="15474442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E1060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6573" y="3282296"/>
            <a:ext cx="2840612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Existing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6573" y="3869093"/>
            <a:ext cx="6558067" cy="99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What is the current solution for the identified problem?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23467" y="3282296"/>
            <a:ext cx="4323436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Proposed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23467" y="3869093"/>
            <a:ext cx="6705057" cy="145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Explain the solution you have suggested.</a:t>
            </a:r>
          </a:p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How your project solves the identified problem?</a:t>
            </a:r>
          </a:p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Highlight its uniqueness and effectiveness.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913862" y="9533687"/>
            <a:ext cx="4114152" cy="547640"/>
            <a:chOff x="0" y="0"/>
            <a:chExt cx="5485536" cy="7301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5534" cy="730186"/>
            </a:xfrm>
            <a:custGeom>
              <a:avLst/>
              <a:gdLst/>
              <a:ahLst/>
              <a:cxnLst/>
              <a:rect r="r" b="b" t="t" l="l"/>
              <a:pathLst>
                <a:path h="730186" w="5485534">
                  <a:moveTo>
                    <a:pt x="0" y="0"/>
                  </a:moveTo>
                  <a:lnTo>
                    <a:pt x="5485534" y="0"/>
                  </a:lnTo>
                  <a:lnTo>
                    <a:pt x="5485534" y="730186"/>
                  </a:lnTo>
                  <a:lnTo>
                    <a:pt x="0" y="730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81" r="0" b="-9638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485536" cy="76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FDFE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97002" y="3037846"/>
            <a:ext cx="857860" cy="857860"/>
            <a:chOff x="0" y="0"/>
            <a:chExt cx="1143813" cy="1143813"/>
          </a:xfrm>
        </p:grpSpPr>
        <p:sp>
          <p:nvSpPr>
            <p:cNvPr name="Freeform 17" id="17" descr="Solution - Free marketing icons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0099" y="2950940"/>
            <a:ext cx="857860" cy="857860"/>
            <a:chOff x="0" y="0"/>
            <a:chExt cx="1143813" cy="1143813"/>
          </a:xfrm>
        </p:grpSpPr>
        <p:sp>
          <p:nvSpPr>
            <p:cNvPr name="Freeform 19" id="19" descr="Solution - Free marketing icons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111821" y="0"/>
            <a:ext cx="5832516" cy="4050582"/>
            <a:chOff x="0" y="0"/>
            <a:chExt cx="7776687" cy="54007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19559"/>
              <a:ext cx="7776687" cy="5181218"/>
            </a:xfrm>
            <a:custGeom>
              <a:avLst/>
              <a:gdLst/>
              <a:ahLst/>
              <a:cxnLst/>
              <a:rect r="r" b="b" t="t" l="l"/>
              <a:pathLst>
                <a:path h="5181218" w="7776687">
                  <a:moveTo>
                    <a:pt x="0" y="0"/>
                  </a:moveTo>
                  <a:lnTo>
                    <a:pt x="7776687" y="0"/>
                  </a:lnTo>
                  <a:lnTo>
                    <a:pt x="7776687" y="5181218"/>
                  </a:lnTo>
                  <a:lnTo>
                    <a:pt x="0" y="5181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07561" y="0"/>
              <a:ext cx="2361565" cy="2149393"/>
            </a:xfrm>
            <a:custGeom>
              <a:avLst/>
              <a:gdLst/>
              <a:ahLst/>
              <a:cxnLst/>
              <a:rect r="r" b="b" t="t" l="l"/>
              <a:pathLst>
                <a:path h="2149393" w="2361565">
                  <a:moveTo>
                    <a:pt x="0" y="0"/>
                  </a:moveTo>
                  <a:lnTo>
                    <a:pt x="2361565" y="0"/>
                  </a:lnTo>
                  <a:lnTo>
                    <a:pt x="2361565" y="2149393"/>
                  </a:lnTo>
                  <a:lnTo>
                    <a:pt x="0" y="2149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1031" y="732539"/>
            <a:ext cx="9569939" cy="851449"/>
            <a:chOff x="0" y="0"/>
            <a:chExt cx="12759919" cy="1135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59923" cy="1135270"/>
            </a:xfrm>
            <a:custGeom>
              <a:avLst/>
              <a:gdLst/>
              <a:ahLst/>
              <a:cxnLst/>
              <a:rect r="r" b="b" t="t" l="l"/>
              <a:pathLst>
                <a:path h="1135270" w="12759923">
                  <a:moveTo>
                    <a:pt x="0" y="0"/>
                  </a:moveTo>
                  <a:lnTo>
                    <a:pt x="12759923" y="0"/>
                  </a:lnTo>
                  <a:lnTo>
                    <a:pt x="12759923" y="1135270"/>
                  </a:lnTo>
                  <a:lnTo>
                    <a:pt x="0" y="11352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003" r="0" b="-1690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759919" cy="1144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48"/>
                </a:lnSpc>
              </a:pPr>
              <a:r>
                <a:rPr lang="en-US" sz="5457">
                  <a:solidFill>
                    <a:srgbClr val="FDFEFE"/>
                  </a:solidFill>
                  <a:latin typeface="Lato"/>
                  <a:ea typeface="Lato"/>
                  <a:cs typeface="Lato"/>
                  <a:sym typeface="Lato"/>
                </a:rPr>
                <a:t>Technical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5086" y="2370830"/>
            <a:ext cx="18360190" cy="138608"/>
            <a:chOff x="0" y="0"/>
            <a:chExt cx="24480253" cy="184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80265" cy="184785"/>
            </a:xfrm>
            <a:custGeom>
              <a:avLst/>
              <a:gdLst/>
              <a:ahLst/>
              <a:cxnLst/>
              <a:rect r="r" b="b" t="t" l="l"/>
              <a:pathLst>
                <a:path h="184785" w="24480265">
                  <a:moveTo>
                    <a:pt x="0" y="0"/>
                  </a:moveTo>
                  <a:lnTo>
                    <a:pt x="24480265" y="0"/>
                  </a:lnTo>
                  <a:lnTo>
                    <a:pt x="24480265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FDFEFE"/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-5115620" y="5733593"/>
            <a:ext cx="11605793" cy="138608"/>
            <a:chOff x="0" y="0"/>
            <a:chExt cx="15474391" cy="184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74442" cy="184785"/>
            </a:xfrm>
            <a:custGeom>
              <a:avLst/>
              <a:gdLst/>
              <a:ahLst/>
              <a:cxnLst/>
              <a:rect r="r" b="b" t="t" l="l"/>
              <a:pathLst>
                <a:path h="184785" w="15474442">
                  <a:moveTo>
                    <a:pt x="0" y="0"/>
                  </a:moveTo>
                  <a:lnTo>
                    <a:pt x="15474442" y="0"/>
                  </a:lnTo>
                  <a:lnTo>
                    <a:pt x="15474442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E1060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6573" y="3282296"/>
            <a:ext cx="5978176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Methodology and process for implementation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6573" y="3869093"/>
            <a:ext cx="6558067" cy="54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Block diagram/Flowcharts/process/prototype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23467" y="3282296"/>
            <a:ext cx="4323436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Engineering Design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23467" y="3869093"/>
            <a:ext cx="6705057" cy="288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9513" indent="-124757" lvl="1">
              <a:lnSpc>
                <a:spcPts val="3547"/>
              </a:lnSpc>
              <a:buFont typeface="Arial"/>
              <a:buChar char="•"/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Important design aspects</a:t>
            </a:r>
          </a:p>
          <a:p>
            <a:pPr algn="l" marL="249513" indent="-124757" lvl="1">
              <a:lnSpc>
                <a:spcPts val="3547"/>
              </a:lnSpc>
              <a:buFont typeface="Arial"/>
              <a:buChar char="•"/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Software: Specify the programming languages, simulation tools, or frameworks used.</a:t>
            </a:r>
          </a:p>
          <a:p>
            <a:pPr algn="l" marL="249513" indent="-124757" lvl="1">
              <a:lnSpc>
                <a:spcPts val="3547"/>
              </a:lnSpc>
              <a:buFont typeface="Arial"/>
              <a:buChar char="•"/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Hardware components: List the hardware elements used </a:t>
            </a:r>
          </a:p>
          <a:p>
            <a:pPr algn="l" marL="249513" indent="-124757" lvl="1">
              <a:lnSpc>
                <a:spcPts val="3547"/>
              </a:lnSpc>
              <a:buFont typeface="Arial"/>
              <a:buChar char="•"/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Can show CAD diagrams, simulations, codes, etc.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913862" y="9533687"/>
            <a:ext cx="4114152" cy="547640"/>
            <a:chOff x="0" y="0"/>
            <a:chExt cx="5485536" cy="7301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5534" cy="730186"/>
            </a:xfrm>
            <a:custGeom>
              <a:avLst/>
              <a:gdLst/>
              <a:ahLst/>
              <a:cxnLst/>
              <a:rect r="r" b="b" t="t" l="l"/>
              <a:pathLst>
                <a:path h="730186" w="5485534">
                  <a:moveTo>
                    <a:pt x="0" y="0"/>
                  </a:moveTo>
                  <a:lnTo>
                    <a:pt x="5485534" y="0"/>
                  </a:lnTo>
                  <a:lnTo>
                    <a:pt x="5485534" y="730186"/>
                  </a:lnTo>
                  <a:lnTo>
                    <a:pt x="0" y="730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81" r="0" b="-9638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485536" cy="76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FDFE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0052" y="3010119"/>
            <a:ext cx="857860" cy="857860"/>
            <a:chOff x="0" y="0"/>
            <a:chExt cx="1143813" cy="1143813"/>
          </a:xfrm>
        </p:grpSpPr>
        <p:sp>
          <p:nvSpPr>
            <p:cNvPr name="Freeform 17" id="17" descr="Methodology icons for free download | Freepik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27699" y="3010119"/>
            <a:ext cx="857860" cy="857860"/>
            <a:chOff x="0" y="0"/>
            <a:chExt cx="1143813" cy="1143813"/>
          </a:xfrm>
        </p:grpSpPr>
        <p:sp>
          <p:nvSpPr>
            <p:cNvPr name="Freeform 19" id="19" descr="Engineering icons for free download | Freepik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111821" y="0"/>
            <a:ext cx="5832516" cy="4050582"/>
            <a:chOff x="0" y="0"/>
            <a:chExt cx="7776687" cy="54007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19559"/>
              <a:ext cx="7776687" cy="5181218"/>
            </a:xfrm>
            <a:custGeom>
              <a:avLst/>
              <a:gdLst/>
              <a:ahLst/>
              <a:cxnLst/>
              <a:rect r="r" b="b" t="t" l="l"/>
              <a:pathLst>
                <a:path h="5181218" w="7776687">
                  <a:moveTo>
                    <a:pt x="0" y="0"/>
                  </a:moveTo>
                  <a:lnTo>
                    <a:pt x="7776687" y="0"/>
                  </a:lnTo>
                  <a:lnTo>
                    <a:pt x="7776687" y="5181218"/>
                  </a:lnTo>
                  <a:lnTo>
                    <a:pt x="0" y="5181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07561" y="0"/>
              <a:ext cx="2361565" cy="2149393"/>
            </a:xfrm>
            <a:custGeom>
              <a:avLst/>
              <a:gdLst/>
              <a:ahLst/>
              <a:cxnLst/>
              <a:rect r="r" b="b" t="t" l="l"/>
              <a:pathLst>
                <a:path h="2149393" w="2361565">
                  <a:moveTo>
                    <a:pt x="0" y="0"/>
                  </a:moveTo>
                  <a:lnTo>
                    <a:pt x="2361565" y="0"/>
                  </a:lnTo>
                  <a:lnTo>
                    <a:pt x="2361565" y="2149393"/>
                  </a:lnTo>
                  <a:lnTo>
                    <a:pt x="0" y="2149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1031" y="732539"/>
            <a:ext cx="9569939" cy="851449"/>
            <a:chOff x="0" y="0"/>
            <a:chExt cx="12759919" cy="1135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59923" cy="1135270"/>
            </a:xfrm>
            <a:custGeom>
              <a:avLst/>
              <a:gdLst/>
              <a:ahLst/>
              <a:cxnLst/>
              <a:rect r="r" b="b" t="t" l="l"/>
              <a:pathLst>
                <a:path h="1135270" w="12759923">
                  <a:moveTo>
                    <a:pt x="0" y="0"/>
                  </a:moveTo>
                  <a:lnTo>
                    <a:pt x="12759923" y="0"/>
                  </a:lnTo>
                  <a:lnTo>
                    <a:pt x="12759923" y="1135270"/>
                  </a:lnTo>
                  <a:lnTo>
                    <a:pt x="0" y="11352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003" r="0" b="-1690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759919" cy="1144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548"/>
                </a:lnSpc>
              </a:pPr>
              <a:r>
                <a:rPr lang="en-US" sz="5457">
                  <a:solidFill>
                    <a:srgbClr val="FDFEFE"/>
                  </a:solidFill>
                  <a:latin typeface="Lato"/>
                  <a:ea typeface="Lato"/>
                  <a:cs typeface="Lato"/>
                  <a:sym typeface="Lato"/>
                </a:rPr>
                <a:t>Impact and 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5086" y="2370830"/>
            <a:ext cx="18360190" cy="138608"/>
            <a:chOff x="0" y="0"/>
            <a:chExt cx="24480253" cy="184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80265" cy="184785"/>
            </a:xfrm>
            <a:custGeom>
              <a:avLst/>
              <a:gdLst/>
              <a:ahLst/>
              <a:cxnLst/>
              <a:rect r="r" b="b" t="t" l="l"/>
              <a:pathLst>
                <a:path h="184785" w="24480265">
                  <a:moveTo>
                    <a:pt x="0" y="0"/>
                  </a:moveTo>
                  <a:lnTo>
                    <a:pt x="24480265" y="0"/>
                  </a:lnTo>
                  <a:lnTo>
                    <a:pt x="24480265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FDFEFE"/>
            </a:solid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-5115620" y="5733593"/>
            <a:ext cx="11605793" cy="138608"/>
            <a:chOff x="0" y="0"/>
            <a:chExt cx="15474391" cy="184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74442" cy="184785"/>
            </a:xfrm>
            <a:custGeom>
              <a:avLst/>
              <a:gdLst/>
              <a:ahLst/>
              <a:cxnLst/>
              <a:rect r="r" b="b" t="t" l="l"/>
              <a:pathLst>
                <a:path h="184785" w="15474442">
                  <a:moveTo>
                    <a:pt x="0" y="0"/>
                  </a:moveTo>
                  <a:lnTo>
                    <a:pt x="15474442" y="0"/>
                  </a:lnTo>
                  <a:lnTo>
                    <a:pt x="15474442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E1060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6573" y="3282296"/>
            <a:ext cx="3577933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Impact of the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6573" y="3869093"/>
            <a:ext cx="6558067" cy="145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Describe how your project will benefit society, industry, or the environment.</a:t>
            </a:r>
          </a:p>
          <a:p>
            <a:pPr algn="just">
              <a:lnSpc>
                <a:spcPts val="354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823467" y="3282296"/>
            <a:ext cx="4323436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23467" y="3869093"/>
            <a:ext cx="6705057" cy="190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A concluding remark on the presented work based on </a:t>
            </a:r>
          </a:p>
          <a:p>
            <a:pPr algn="l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Need, effectiveness, feasibility, USP, commercial viability, IPR.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76573" y="6623437"/>
            <a:ext cx="4548207" cy="3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8"/>
              </a:lnSpc>
            </a:pPr>
            <a:r>
              <a:rPr lang="en-US" b="true" sz="2273">
                <a:solidFill>
                  <a:srgbClr val="FDFEFE"/>
                </a:solidFill>
                <a:latin typeface="Lato Bold"/>
                <a:ea typeface="Lato Bold"/>
                <a:cs typeface="Lato Bold"/>
                <a:sym typeface="Lato Bold"/>
              </a:rPr>
              <a:t>Specific areas of application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6573" y="7210235"/>
            <a:ext cx="6558067" cy="88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7"/>
              </a:lnSpc>
            </a:pPr>
            <a:r>
              <a:rPr lang="en-US" sz="2273">
                <a:solidFill>
                  <a:srgbClr val="FDFEFE"/>
                </a:solidFill>
                <a:latin typeface="Lato"/>
                <a:ea typeface="Lato"/>
                <a:cs typeface="Lato"/>
                <a:sym typeface="Lato"/>
              </a:rPr>
              <a:t>Enlist the places, domains, or industries where your project can be applied.</a:t>
            </a:r>
          </a:p>
          <a:p>
            <a:pPr algn="just">
              <a:lnSpc>
                <a:spcPts val="3547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2913862" y="9533687"/>
            <a:ext cx="4114152" cy="547640"/>
            <a:chOff x="0" y="0"/>
            <a:chExt cx="5485536" cy="730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5534" cy="730186"/>
            </a:xfrm>
            <a:custGeom>
              <a:avLst/>
              <a:gdLst/>
              <a:ahLst/>
              <a:cxnLst/>
              <a:rect r="r" b="b" t="t" l="l"/>
              <a:pathLst>
                <a:path h="730186" w="5485534">
                  <a:moveTo>
                    <a:pt x="0" y="0"/>
                  </a:moveTo>
                  <a:lnTo>
                    <a:pt x="5485534" y="0"/>
                  </a:lnTo>
                  <a:lnTo>
                    <a:pt x="5485534" y="730186"/>
                  </a:lnTo>
                  <a:lnTo>
                    <a:pt x="0" y="730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81" r="0" b="-963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5536" cy="76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FDFE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0052" y="3093015"/>
            <a:ext cx="857860" cy="857860"/>
            <a:chOff x="0" y="0"/>
            <a:chExt cx="1143813" cy="1143813"/>
          </a:xfrm>
        </p:grpSpPr>
        <p:sp>
          <p:nvSpPr>
            <p:cNvPr name="Freeform 19" id="19" descr="Solution - Free electronics icons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139" y="6294720"/>
            <a:ext cx="857860" cy="857860"/>
            <a:chOff x="0" y="0"/>
            <a:chExt cx="1143813" cy="1143813"/>
          </a:xfrm>
        </p:grpSpPr>
        <p:sp>
          <p:nvSpPr>
            <p:cNvPr name="Freeform 21" id="21" descr="Factory - Free ecology and environment icons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27699" y="3037846"/>
            <a:ext cx="857860" cy="857860"/>
            <a:chOff x="0" y="0"/>
            <a:chExt cx="1143813" cy="1143813"/>
          </a:xfrm>
        </p:grpSpPr>
        <p:sp>
          <p:nvSpPr>
            <p:cNvPr name="Freeform 23" id="23" descr="Conclusion icons for free download | Freepik"/>
            <p:cNvSpPr/>
            <p:nvPr/>
          </p:nvSpPr>
          <p:spPr>
            <a:xfrm flipH="false" flipV="false" rot="0">
              <a:off x="0" y="0"/>
              <a:ext cx="1143762" cy="1143762"/>
            </a:xfrm>
            <a:custGeom>
              <a:avLst/>
              <a:gdLst/>
              <a:ahLst/>
              <a:cxnLst/>
              <a:rect r="r" b="b" t="t" l="l"/>
              <a:pathLst>
                <a:path h="1143762" w="1143762">
                  <a:moveTo>
                    <a:pt x="0" y="0"/>
                  </a:moveTo>
                  <a:lnTo>
                    <a:pt x="1143762" y="0"/>
                  </a:lnTo>
                  <a:lnTo>
                    <a:pt x="1143762" y="1143762"/>
                  </a:lnTo>
                  <a:lnTo>
                    <a:pt x="0" y="114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111821" y="0"/>
            <a:ext cx="5832516" cy="4050582"/>
            <a:chOff x="0" y="0"/>
            <a:chExt cx="7776687" cy="54007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219559"/>
              <a:ext cx="7776687" cy="5181218"/>
            </a:xfrm>
            <a:custGeom>
              <a:avLst/>
              <a:gdLst/>
              <a:ahLst/>
              <a:cxnLst/>
              <a:rect r="r" b="b" t="t" l="l"/>
              <a:pathLst>
                <a:path h="5181218" w="7776687">
                  <a:moveTo>
                    <a:pt x="0" y="0"/>
                  </a:moveTo>
                  <a:lnTo>
                    <a:pt x="7776687" y="0"/>
                  </a:lnTo>
                  <a:lnTo>
                    <a:pt x="7776687" y="5181218"/>
                  </a:lnTo>
                  <a:lnTo>
                    <a:pt x="0" y="5181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07561" y="0"/>
              <a:ext cx="2361565" cy="2149393"/>
            </a:xfrm>
            <a:custGeom>
              <a:avLst/>
              <a:gdLst/>
              <a:ahLst/>
              <a:cxnLst/>
              <a:rect r="r" b="b" t="t" l="l"/>
              <a:pathLst>
                <a:path h="2149393" w="2361565">
                  <a:moveTo>
                    <a:pt x="0" y="0"/>
                  </a:moveTo>
                  <a:lnTo>
                    <a:pt x="2361565" y="0"/>
                  </a:lnTo>
                  <a:lnTo>
                    <a:pt x="2361565" y="2149393"/>
                  </a:lnTo>
                  <a:lnTo>
                    <a:pt x="0" y="2149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086" y="2658094"/>
            <a:ext cx="9217638" cy="128559"/>
            <a:chOff x="0" y="0"/>
            <a:chExt cx="12290184" cy="171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90171" cy="171450"/>
            </a:xfrm>
            <a:custGeom>
              <a:avLst/>
              <a:gdLst/>
              <a:ahLst/>
              <a:cxnLst/>
              <a:rect r="r" b="b" t="t" l="l"/>
              <a:pathLst>
                <a:path h="171450" w="12290171">
                  <a:moveTo>
                    <a:pt x="0" y="0"/>
                  </a:moveTo>
                  <a:lnTo>
                    <a:pt x="12290171" y="0"/>
                  </a:lnTo>
                  <a:lnTo>
                    <a:pt x="12290171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DFEFE"/>
            </a:soli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1087231" y="1705204"/>
            <a:ext cx="3549025" cy="138608"/>
            <a:chOff x="0" y="0"/>
            <a:chExt cx="4732033" cy="184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32020" cy="184785"/>
            </a:xfrm>
            <a:custGeom>
              <a:avLst/>
              <a:gdLst/>
              <a:ahLst/>
              <a:cxnLst/>
              <a:rect r="r" b="b" t="t" l="l"/>
              <a:pathLst>
                <a:path h="184785" w="4732020">
                  <a:moveTo>
                    <a:pt x="0" y="0"/>
                  </a:moveTo>
                  <a:lnTo>
                    <a:pt x="4732020" y="0"/>
                  </a:lnTo>
                  <a:lnTo>
                    <a:pt x="4732020" y="184785"/>
                  </a:lnTo>
                  <a:lnTo>
                    <a:pt x="0" y="184785"/>
                  </a:lnTo>
                  <a:close/>
                </a:path>
              </a:pathLst>
            </a:custGeom>
            <a:solidFill>
              <a:srgbClr val="E1060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2183" y="984714"/>
            <a:ext cx="7207777" cy="1313336"/>
            <a:chOff x="0" y="0"/>
            <a:chExt cx="9610369" cy="17511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10368" cy="1751114"/>
            </a:xfrm>
            <a:custGeom>
              <a:avLst/>
              <a:gdLst/>
              <a:ahLst/>
              <a:cxnLst/>
              <a:rect r="r" b="b" t="t" l="l"/>
              <a:pathLst>
                <a:path h="1751114" w="9610368">
                  <a:moveTo>
                    <a:pt x="0" y="0"/>
                  </a:moveTo>
                  <a:lnTo>
                    <a:pt x="9610368" y="0"/>
                  </a:lnTo>
                  <a:lnTo>
                    <a:pt x="9610368" y="1751114"/>
                  </a:lnTo>
                  <a:lnTo>
                    <a:pt x="0" y="17511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936" r="0" b="-5693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9610369" cy="175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150"/>
                </a:lnSpc>
              </a:pPr>
              <a:r>
                <a:rPr lang="en-US" b="true" sz="8458" spc="272">
                  <a:solidFill>
                    <a:srgbClr val="FDFEFE"/>
                  </a:solidFill>
                  <a:latin typeface="Lato Bold"/>
                  <a:ea typeface="Lato Bold"/>
                  <a:cs typeface="Lato Bold"/>
                  <a:sym typeface="Lato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13862" y="9533687"/>
            <a:ext cx="4114152" cy="547640"/>
            <a:chOff x="0" y="0"/>
            <a:chExt cx="5485536" cy="7301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5534" cy="730186"/>
            </a:xfrm>
            <a:custGeom>
              <a:avLst/>
              <a:gdLst/>
              <a:ahLst/>
              <a:cxnLst/>
              <a:rect r="r" b="b" t="t" l="l"/>
              <a:pathLst>
                <a:path h="730186" w="5485534">
                  <a:moveTo>
                    <a:pt x="0" y="0"/>
                  </a:moveTo>
                  <a:lnTo>
                    <a:pt x="5485534" y="0"/>
                  </a:lnTo>
                  <a:lnTo>
                    <a:pt x="5485534" y="730186"/>
                  </a:lnTo>
                  <a:lnTo>
                    <a:pt x="0" y="7301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81" r="0" b="-963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5536" cy="76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59"/>
                </a:lnSpc>
              </a:pPr>
              <a:r>
                <a:rPr lang="en-US" sz="1799">
                  <a:solidFill>
                    <a:srgbClr val="FDFE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DAHCT_FLKI4</dc:identifier>
  <dcterms:modified xsi:type="dcterms:W3CDTF">2011-08-01T06:04:30Z</dcterms:modified>
  <cp:revision>1</cp:revision>
  <dc:title>Ideaverse_Template_ppt</dc:title>
</cp:coreProperties>
</file>